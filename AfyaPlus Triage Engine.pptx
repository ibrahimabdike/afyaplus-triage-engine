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24384000" cy="13716000"/>
  <p:notesSz cx="13716000" cy="2438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780000" y="6350000"/>
            <a:ext cx="4826000" cy="4826000"/>
          </a:xfrm>
          <a:prstGeom prst="ellipse">
            <a:avLst/>
          </a:prstGeom>
          <a:solidFill>
            <a:srgbClr val="10B981">
              <a:alpha val="941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685000" y="8255000"/>
            <a:ext cx="3302000" cy="3302000"/>
          </a:xfrm>
          <a:prstGeom prst="ellipse">
            <a:avLst/>
          </a:prstGeom>
          <a:solidFill>
            <a:srgbClr val="1A1A1A">
              <a:alpha val="7059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510000" y="9525000"/>
            <a:ext cx="635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0" y="7620000"/>
            <a:ext cx="38100" cy="3810000"/>
          </a:xfrm>
          <a:prstGeom prst="rect">
            <a:avLst/>
          </a:prstGeom>
          <a:solidFill>
            <a:srgbClr val="1A1A1A">
              <a:alpha val="1254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778000"/>
            <a:ext cx="2540000" cy="10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6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9443700" y="1346200"/>
            <a:ext cx="3683000" cy="261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000"/>
              </a:lnSpc>
            </a:pPr>
            <a:r>
              <a:rPr lang="en-US" sz="1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0" dirty="0"/>
          </a:p>
        </p:txBody>
      </p:sp>
      <p:sp>
        <p:nvSpPr>
          <p:cNvPr id="9" name="Text 7"/>
          <p:cNvSpPr/>
          <p:nvPr/>
        </p:nvSpPr>
        <p:spPr>
          <a:xfrm>
            <a:off x="8890000" y="6604000"/>
            <a:ext cx="1422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2500"/>
              </a:lnSpc>
            </a:pPr>
            <a:r>
              <a:rPr lang="en-US" sz="10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AfyaPlus Triage</a:t>
            </a:r>
            <a:endParaRPr lang="en-US" sz="10000" dirty="0"/>
          </a:p>
          <a:p>
            <a:pPr algn="r">
              <a:lnSpc>
                <a:spcPts val="12500"/>
              </a:lnSpc>
            </a:pPr>
            <a:r>
              <a:rPr lang="en-US" sz="10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890000" y="10033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4000"/>
              </a:lnSpc>
            </a:pPr>
            <a:r>
              <a:rPr lang="en-US" sz="2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Medical Routing System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 rot="16200000">
            <a:off x="-266700" y="10541000"/>
            <a:ext cx="33274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" y="5080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405600" y="11709400"/>
            <a:ext cx="3594100" cy="787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9469100" y="11861800"/>
            <a:ext cx="34544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44600" y="1270000"/>
            <a:ext cx="12407900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244600" y="5461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44600" y="6223000"/>
            <a:ext cx="762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 send </a:t>
            </a:r>
            <a:pPr algn="l">
              <a:lnSpc>
                <a:spcPts val="3200"/>
              </a:lnSpc>
            </a:pPr>
            <a:r>
              <a:rPr lang="en-US" sz="2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unstructured, conversational</a:t>
            </a:r>
            <a:pPr algn="l">
              <a:lnSpc>
                <a:spcPts val="32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messages that are difficult for backend systems to process.</a:t>
            </a:r>
            <a:endParaRPr lang="en-US" sz="2800" dirty="0"/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AI systems struggle with three critical issues that prevent safe medical routing.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398000" y="5461000"/>
            <a:ext cx="6731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Fluff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398000" y="60706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</a:pPr>
            <a:r>
              <a:rPr lang="en-US" sz="2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returns verbose, unstructured responses instead of actionable clinical data.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398000" y="7366000"/>
            <a:ext cx="6731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Hallucinated Facts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398000" y="79756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</a:pPr>
            <a:r>
              <a:rPr lang="en-US" sz="2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invent symptoms or diagnoses that were never mentioned by the patient.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398000" y="9271000"/>
            <a:ext cx="6731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Crashes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398000" y="9880600"/>
            <a:ext cx="673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</a:pPr>
            <a:r>
              <a:rPr lang="en-US" sz="2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Systems fail completely during outages, leaving patients without any routing support.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195800" y="1231900"/>
            <a:ext cx="3048000" cy="261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000"/>
              </a:lnSpc>
            </a:pPr>
            <a:r>
              <a:rPr lang="en-US" sz="1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0" dirty="0"/>
          </a:p>
        </p:txBody>
      </p:sp>
      <p:sp>
        <p:nvSpPr>
          <p:cNvPr id="16" name="Text 14"/>
          <p:cNvSpPr/>
          <p:nvPr/>
        </p:nvSpPr>
        <p:spPr>
          <a:xfrm rot="-5400000">
            <a:off x="20840700" y="10439400"/>
            <a:ext cx="34036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" y="5080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405600" y="11709400"/>
            <a:ext cx="3594100" cy="787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9469100" y="11861800"/>
            <a:ext cx="34544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pic>
        <p:nvPicPr>
          <p:cNvPr id="6" name="Image 0" descr="https://kimi-img.moonshot.cn/pub/slides/okc/mtx4ndtqaextw/mnt/agents/output/afyaplus-triage/images/1_Digital_Transformation_in_Healthc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00300" y="1574800"/>
            <a:ext cx="7670800" cy="5092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5900" y="1473200"/>
            <a:ext cx="110109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1485900" y="7810500"/>
            <a:ext cx="110109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 Engine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485900" y="8636000"/>
            <a:ext cx="110109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</a:pPr>
            <a:r>
              <a:rPr lang="en-US" sz="30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ts val="3200"/>
              </a:lnSpc>
            </a:pPr>
            <a:r>
              <a:rPr lang="en-US" sz="3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Dual-pathway architecture (Cloud + Local)</a:t>
            </a:r>
            <a:endParaRPr lang="en-US" sz="3000" dirty="0"/>
          </a:p>
          <a:p>
            <a:pPr algn="l">
              <a:lnSpc>
                <a:spcPts val="3200"/>
              </a:lnSpc>
            </a:pPr>
            <a:r>
              <a:rPr lang="en-US" sz="30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ts val="3200"/>
              </a:lnSpc>
            </a:pPr>
            <a:r>
              <a:rPr lang="en-US" sz="3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Defensive prompt engineering</a:t>
            </a:r>
            <a:endParaRPr lang="en-US" sz="3000" dirty="0"/>
          </a:p>
          <a:p>
            <a:pPr algn="l">
              <a:lnSpc>
                <a:spcPts val="3200"/>
              </a:lnSpc>
            </a:pPr>
            <a:r>
              <a:rPr lang="en-US" sz="30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ts val="3200"/>
              </a:lnSpc>
            </a:pPr>
            <a:r>
              <a:rPr lang="en-US" sz="3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Structured JSON output</a:t>
            </a:r>
            <a:endParaRPr lang="en-US" sz="3000" dirty="0"/>
          </a:p>
          <a:p>
            <a:pPr algn="l">
              <a:lnSpc>
                <a:spcPts val="3200"/>
              </a:lnSpc>
            </a:pPr>
            <a:r>
              <a:rPr lang="en-US" sz="30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ts val="3200"/>
              </a:lnSpc>
            </a:pPr>
            <a:r>
              <a:rPr lang="en-US" sz="3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Automatic failover</a:t>
            </a:r>
            <a:endParaRPr lang="en-US" sz="3000" dirty="0"/>
          </a:p>
          <a:p>
            <a:pPr algn="l">
              <a:lnSpc>
                <a:spcPts val="3200"/>
              </a:lnSpc>
            </a:pPr>
            <a:r>
              <a:rPr lang="en-US" sz="30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ts val="3200"/>
              </a:lnSpc>
            </a:pPr>
            <a:r>
              <a:rPr lang="en-US" sz="3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Performance benchmarking</a:t>
            </a:r>
            <a:endParaRPr lang="en-US" sz="3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00" y="635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589000" y="1778000"/>
            <a:ext cx="25400" cy="10414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1811000"/>
            <a:ext cx="4318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1938000"/>
            <a:ext cx="34036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95400" y="1765300"/>
            <a:ext cx="9753600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44600" y="2667000"/>
            <a:ext cx="97536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Message</a:t>
            </a:r>
            <a:endParaRPr lang="en-US" sz="8000" dirty="0"/>
          </a:p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Structured</a:t>
            </a:r>
            <a:endParaRPr lang="en-US" sz="8000" dirty="0"/>
          </a:p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Output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12954000" y="2159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4033500" y="2006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Message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4033500" y="2743200"/>
            <a:ext cx="8331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have chest pain and can't breathe"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54000" y="3937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4033500" y="3784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Gateway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4033500" y="4521200"/>
            <a:ext cx="8331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prompt injection, validates input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954000" y="5715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14033500" y="5562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Path (GPT-4o-mini)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4033500" y="6299200"/>
            <a:ext cx="8331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4-second timeout for fast response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954000" y="7493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14033500" y="7340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Path (Ollama/Llama3.2)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4033500" y="8077200"/>
            <a:ext cx="8331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60-second timeout, no external dependency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954000" y="9271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14033500" y="9118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JSON Output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4033500" y="9855200"/>
            <a:ext cx="8331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6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 "is_critical": true,</a:t>
            </a:r>
            <a:endParaRPr lang="en-US" sz="2400" dirty="0"/>
          </a:p>
          <a:p>
            <a:pPr algn="l">
              <a:lnSpc>
                <a:spcPts val="26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"symptoms": ["chest pain"],</a:t>
            </a:r>
            <a:endParaRPr lang="en-US" sz="2400" dirty="0"/>
          </a:p>
          <a:p>
            <a:pPr algn="l">
              <a:lnSpc>
                <a:spcPts val="26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"routing": "Emergency Room" }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319000" y="1778000"/>
            <a:ext cx="25400" cy="10414000"/>
          </a:xfrm>
          <a:prstGeom prst="rect">
            <a:avLst/>
          </a:prstGeom>
          <a:solidFill>
            <a:srgbClr val="1A1A1A">
              <a:alpha val="823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1747500"/>
            <a:ext cx="4318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11925300"/>
            <a:ext cx="33782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95400" y="1752600"/>
            <a:ext cx="8534400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Evolution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38900" y="3657600"/>
            <a:ext cx="3403600" cy="261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000"/>
              </a:lnSpc>
            </a:pPr>
            <a:r>
              <a:rPr lang="en-US" sz="1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0" dirty="0"/>
          </a:p>
        </p:txBody>
      </p:sp>
      <p:sp>
        <p:nvSpPr>
          <p:cNvPr id="8" name="Text 6"/>
          <p:cNvSpPr/>
          <p:nvPr/>
        </p:nvSpPr>
        <p:spPr>
          <a:xfrm>
            <a:off x="1295400" y="6350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4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2954000" y="2159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4033500" y="2006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1: Basic Role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4033500" y="2743200"/>
            <a:ext cx="8331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 are a nurse. Analyze symptoms."</a:t>
            </a:r>
            <a:endParaRPr lang="en-US" sz="2400" dirty="0"/>
          </a:p>
          <a:p>
            <a:pPr algn="l">
              <a:lnSpc>
                <a:spcPts val="2800"/>
              </a:lnSpc>
              <a:spcBef>
                <a:spcPts val="800"/>
              </a:spcBef>
            </a:pPr>
            <a:r>
              <a:rPr lang="en-US" sz="2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Unstructured output, inconsistent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54000" y="4826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4033500" y="4673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2: Structured Output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14033500" y="5410200"/>
            <a:ext cx="8331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 are a nurse. Return JSON with fields..."</a:t>
            </a:r>
            <a:endParaRPr lang="en-US" sz="2400" dirty="0"/>
          </a:p>
          <a:p>
            <a:pPr algn="l">
              <a:lnSpc>
                <a:spcPts val="2800"/>
              </a:lnSpc>
              <a:spcBef>
                <a:spcPts val="800"/>
              </a:spcBef>
            </a:pPr>
            <a:r>
              <a:rPr lang="en-US" sz="24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structure, still hallucinates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954000" y="7493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14033500" y="7340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3: Defensive + CoT (FINAL)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14033500" y="8077200"/>
            <a:ext cx="83312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"You are a defensive triage system."</a:t>
            </a:r>
            <a:endParaRPr lang="en-US" sz="2400" dirty="0"/>
          </a:p>
          <a:p>
            <a:pPr algn="l">
              <a:lnSpc>
                <a:spcPts val="2800"/>
              </a:lnSpc>
              <a:spcBef>
                <a:spcPts val="400"/>
              </a:spcBef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RULES:</a:t>
            </a:r>
            <a:pPr algn="l">
              <a:lnSpc>
                <a:spcPts val="2800"/>
              </a:lnSpc>
              <a:spcBef>
                <a:spcPts val="400"/>
              </a:spcBef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diagnoses. No fluff. Conservative.</a:t>
            </a:r>
            <a:endParaRPr lang="en-US" sz="2400" dirty="0"/>
          </a:p>
          <a:p>
            <a:pPr algn="l">
              <a:lnSpc>
                <a:spcPts val="2800"/>
              </a:lnSpc>
              <a:spcBef>
                <a:spcPts val="400"/>
              </a:spcBef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CHAIN-OF-THOUGHT: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List symptoms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Check emergency keywords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Assess vulnerability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Determine urgency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270000"/>
            <a:ext cx="3556000" cy="3556000"/>
          </a:xfrm>
          <a:prstGeom prst="ellipse">
            <a:avLst/>
          </a:prstGeom>
          <a:solidFill>
            <a:srgbClr val="FFFFFF">
              <a:alpha val="392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19300" y="8509000"/>
            <a:ext cx="11074400" cy="25400"/>
          </a:xfrm>
          <a:prstGeom prst="rect">
            <a:avLst/>
          </a:prstGeom>
          <a:solidFill>
            <a:srgbClr val="FFFFFF">
              <a:alpha val="1451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0828000" y="10477500"/>
            <a:ext cx="635000" cy="317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 rot="-5400000">
            <a:off x="20840700" y="10477500"/>
            <a:ext cx="34036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033500" y="2336800"/>
            <a:ext cx="2857500" cy="261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0000"/>
              </a:lnSpc>
            </a:pPr>
            <a:r>
              <a:rPr lang="en-US" sz="1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032000" y="2387600"/>
            <a:ext cx="110617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Results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2032000" y="4191000"/>
            <a:ext cx="110617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 Results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32000" y="5334000"/>
          <a:ext cx="15240000" cy="3048000"/>
        </p:xfrm>
        <a:graphic>
          <a:graphicData uri="http://schemas.openxmlformats.org/drawingml/2006/table">
            <a:tbl>
              <a:tblPr/>
              <a:tblGrid>
                <a:gridCol w="5334000"/>
                <a:gridCol w="3352800"/>
                <a:gridCol w="3352800"/>
                <a:gridCol w="32004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Scenario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Cloud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Local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Classify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Mild Headache/Fever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2.75s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45.60s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5966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Routine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Severe Chest Pain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2.57s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39.21s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504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EMERGENCY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Child Rash/Fever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3.91s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55.88s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504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EMERGENCY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032000" y="8890000"/>
            <a:ext cx="1524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Cloud:</a:t>
            </a:r>
            <a:pPr algn="l">
              <a:lnSpc>
                <a:spcPts val="32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3.08s average, 100% success rate</a:t>
            </a:r>
            <a:endParaRPr lang="en-US" sz="2200" dirty="0"/>
          </a:p>
          <a:p>
            <a:pPr algn="l">
              <a:lnSpc>
                <a:spcPts val="32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Local:</a:t>
            </a:r>
            <a:pPr algn="l">
              <a:lnSpc>
                <a:spcPts val="32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46.90s average, 100% success rate</a:t>
            </a:r>
            <a:endParaRPr lang="en-US" sz="2200" dirty="0"/>
          </a:p>
          <a:p>
            <a:pPr algn="l">
              <a:lnSpc>
                <a:spcPts val="32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is 15.2x faster</a:t>
            </a:r>
            <a:endParaRPr lang="en-US" sz="2200" dirty="0"/>
          </a:p>
          <a:p>
            <a:pPr algn="l">
              <a:lnSpc>
                <a:spcPts val="3200"/>
              </a:lnSpc>
              <a:spcBef>
                <a:spcPts val="800"/>
              </a:spcBef>
            </a:pPr>
            <a:r>
              <a:rPr lang="en-US" sz="22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 Cloud for speed, Local for reliability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00" y="762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18200" y="3556000"/>
            <a:ext cx="16840200" cy="25400"/>
          </a:xfrm>
          <a:prstGeom prst="rect">
            <a:avLst/>
          </a:prstGeom>
          <a:solidFill>
            <a:srgbClr val="1A1A1A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1651000"/>
            <a:ext cx="2540000" cy="952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18415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A+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439400"/>
            <a:ext cx="635000" cy="3276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 rot="16200000">
            <a:off x="25400" y="10439400"/>
            <a:ext cx="34544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18200" y="1841500"/>
            <a:ext cx="168402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 &amp; ROI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918200" y="4191000"/>
            <a:ext cx="44450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to Care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918200" y="4889500"/>
            <a:ext cx="444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3-second response time vs manual triage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automated screening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ER wait times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15800" y="4191000"/>
            <a:ext cx="44450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2115800" y="4889500"/>
            <a:ext cx="444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uptime with automatic failover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in low-connectivity areas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point of failure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313400" y="4191000"/>
            <a:ext cx="44450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Optimization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18313400" y="4889500"/>
            <a:ext cx="444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for urgent cases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for routine/non-urgent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50-70% API cost savings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18200" y="7112000"/>
            <a:ext cx="44450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Privacy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918200" y="7810500"/>
            <a:ext cx="444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processing option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patient data leaving network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HIPAA/GDPR compliant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115800" y="7112000"/>
            <a:ext cx="44450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12115800" y="7810500"/>
            <a:ext cx="444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Unlimited concurrent requests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add more models</a:t>
            </a:r>
            <a:endParaRPr lang="en-US" sz="2400" dirty="0"/>
          </a:p>
          <a:p>
            <a:pPr algn="l">
              <a:lnSpc>
                <a:spcPts val="28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scales automatically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85000" y="1270000"/>
            <a:ext cx="2540000" cy="2540000"/>
          </a:xfrm>
          <a:prstGeom prst="ellipse">
            <a:avLst/>
          </a:prstGeom>
          <a:solidFill>
            <a:srgbClr val="10B981">
              <a:alpha val="7059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85900" y="5080000"/>
            <a:ext cx="11214100" cy="25400"/>
          </a:xfrm>
          <a:prstGeom prst="rect">
            <a:avLst/>
          </a:prstGeom>
          <a:solidFill>
            <a:srgbClr val="10B981">
              <a:alpha val="1451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161000" y="1803400"/>
            <a:ext cx="2540000" cy="10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8161000" y="19939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A+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669000" y="11709400"/>
            <a:ext cx="4699000" cy="787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8732500" y="118618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5900" y="1473200"/>
            <a:ext cx="110109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Management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1485900" y="5334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Risks &amp; Mitigation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85900" y="6223000"/>
          <a:ext cx="20320000" cy="4826000"/>
        </p:xfrm>
        <a:graphic>
          <a:graphicData uri="http://schemas.openxmlformats.org/drawingml/2006/table">
            <a:tbl>
              <a:tblPr/>
              <a:tblGrid>
                <a:gridCol w="4470400"/>
                <a:gridCol w="5283200"/>
                <a:gridCol w="10566400"/>
              </a:tblGrid>
              <a:tr h="6756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Risk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Impact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Mitigation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False Negatives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Patient safety risk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Conservative classification, over-triage to prevent missed emergencies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Cloud API Costs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Budget overrun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Local fallback, model optimization, usage-based routing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 Hallucination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Incorrect routing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Defensive prompts, structured output, no diagnosis policy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Network Outage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System downtime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Automatic local failover, offline capability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 Privacy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Compliance risk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Local processing option, no data leaves network</a:t>
                      </a:r>
                      <a:endParaRPr lang="en-US" sz="20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485900" y="11239500"/>
            <a:ext cx="203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First:</a:t>
            </a:r>
            <a:pPr algn="l">
              <a:lnSpc>
                <a:spcPts val="2800"/>
              </a:lnSpc>
            </a:pPr>
            <a:r>
              <a:rPr lang="en-US" sz="20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 prioritizes over-classification to prevent missed emergencies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00" y="635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589000" y="1778000"/>
            <a:ext cx="25400" cy="10414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1811000"/>
            <a:ext cx="4318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1938000"/>
            <a:ext cx="34036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AFYAPLUS TRIAGE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95400" y="1765300"/>
            <a:ext cx="9753600" cy="749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200"/>
              </a:lnSpc>
            </a:pPr>
            <a:r>
              <a:rPr lang="en-US" sz="3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Deployment Options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44600" y="2667000"/>
            <a:ext cx="1143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8000" dirty="0"/>
          </a:p>
          <a:p>
            <a:pPr algn="l">
              <a:lnSpc>
                <a:spcPts val="10000"/>
              </a:lnSpc>
            </a:pPr>
            <a:r>
              <a:rPr lang="en-US" sz="8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12954000" y="2159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4033500" y="2006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Cloud-First (Recommended)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4033500" y="2743200"/>
            <a:ext cx="833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GPT-4o-mini for all messages</a:t>
            </a:r>
            <a:endParaRPr lang="en-US" sz="2000" dirty="0"/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Fallback to local if network issues</a:t>
            </a:r>
            <a:endParaRPr lang="en-US" sz="2000" dirty="0"/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 urban clinics | </a:t>
            </a:r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~3s response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954000" y="5080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4033500" y="4927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Local-First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4033500" y="5664200"/>
            <a:ext cx="833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Ollama for all messages</a:t>
            </a:r>
            <a:endParaRPr lang="en-US" sz="2000" dirty="0"/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external dependencies</a:t>
            </a:r>
            <a:endParaRPr lang="en-US" sz="2000" dirty="0"/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 remote/rural areas | </a:t>
            </a:r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~47s response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954000" y="8001000"/>
            <a:ext cx="9779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14033500" y="7848600"/>
            <a:ext cx="833120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700"/>
              </a:lnSpc>
            </a:pPr>
            <a:r>
              <a:rPr lang="en-US" sz="2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(Optimal)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14033500" y="8585200"/>
            <a:ext cx="833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for urgent/emergency</a:t>
            </a:r>
            <a:endParaRPr lang="en-US" sz="2000" dirty="0"/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for routine inquiries</a:t>
            </a:r>
            <a:endParaRPr lang="en-US" sz="2000" dirty="0"/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optimization | </a:t>
            </a:r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performance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AfyaPlus Triage Engine</dc:title>
  <dc:subject>AfyaPlus Triage Engine</dc:subject>
  <dc:creator>Kimi</dc:creator>
  <cp:lastModifiedBy>Kimi</cp:lastModifiedBy>
  <cp:revision>1</cp:revision>
  <dcterms:created xsi:type="dcterms:W3CDTF">2026-07-11T04:15:44Z</dcterms:created>
  <dcterms:modified xsi:type="dcterms:W3CDTF">2026-07-11T04:15:44Z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{"Label":"AfyaPlus Triage Engine","ContentProducer":"001191110108MACG2KBH8F10000","ProduceID":"19f4f52a-bb32-895c-8000-0000d07482b1","ReservedCode1":"","ContentPropagator":"001191110108MACG2KBH8F20000","PropagateID":"19f4f4eb-3ed2-86e9-8000-09b247a3464c","ReservedCode2":""}</vt:lpwstr>
  </property>
</Properties>
</file>